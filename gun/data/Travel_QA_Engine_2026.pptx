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552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664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2026 관광데이터 활용 공모전 · 웹앱개발 부문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관광 일정 QA 엔진</a:t>
            </a:r>
            <a:endParaRPr lang="en-US" sz="5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Explainable Travel Plan Validator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"우리는 일정을 추천하지 않는다.  그 일정이 가능한지, 좋은지를 증명한다."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출품  </a:t>
            </a:r>
            <a:r>
              <a:rPr lang="en-US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이건상
</a:t>
            </a: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제출일  </a:t>
            </a:r>
            <a:r>
              <a:rPr lang="en-US" sz="12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2026.05.02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Python 3.11 · FastAPI · OR-Tools · Claude Sonnet 4.6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CONTENTS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목차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8개 섹션 · 24장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01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문제 정의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추천은 많지만 검증은 없다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03 — 05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02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솔루션 비전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검증 가능성이 또 하나의 품질이다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9520" y="2148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06 — 07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03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기술적 차별점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VRPTW · DBSCAN · LLM 하이브리드 (5종)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2514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08 — 13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04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28803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Risk Score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37560" y="2880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8개 패널티 매트릭스 + Hard Fail Cap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89520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14 — 15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05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2461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 자산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37560" y="3246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TourAPI 50K POI + 공공 통계 7종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16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06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결과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70 일정 · 322 장소 · 매칭률 96%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36118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17 — 20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07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활용 시나리오 · 로드맵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37560" y="3977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B2C · B2B · 공공 + 운영시간 통합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89520" y="3977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21 — 22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43434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08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43000" y="4343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한계 · 강점 · 레퍼런스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37560" y="4343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공공 보고서 7종 + 학술 1종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89520" y="4343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23 — 24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추천은 풍성하지만, 검증은 비어 있다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기존 서비스의 사각지대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43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국내 여행 시장의 현실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23.7조 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7980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2024 국내 여행 지출 규모 (한국문화관광연구원)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1억 5,580만 회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666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2024 연간 국내 여행 횟수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평균 2.4일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1회당 여행 일수 (2025 국민여행조사 4Q)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406908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그러나 사용자가 마주치는 것은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38658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239115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20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충돌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도착했는데 영업 종료 — 동선 재구성 필요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288950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289407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208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비현실적 이동시간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20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지도엔 30분, 실제 출퇴근 시간엔 70분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339242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00600" y="339699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1208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체류시간 추정 불일치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208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경복궁 30분으로 끊으면 사실상 입장 X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0600" y="389534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00600" y="38999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테마 불일치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120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"힐링"인데 일정에 클럽·시장이 끼어 있음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결과 : 추천은 "무엇을 갈지" 알려주지만, "실제 갈 수 있는지"를 증명하지 못한다.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부재가 만드는 실제 손실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현장에서 반복되는 동선 실패 패턴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A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"부산 1박2일 추천 코스"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광안리(20:00 도착) → 감천문화마을(21:00) → 운영 종료 18:00 → 입장 불가, 일정 30% 폐기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−2시간 + 택시비 ₩28,000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B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5448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"제주 가족 코스"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026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한라산(09:00 입장) → 동문시장(11:00 도착) — 50km 이동을 30분으로 표기, 실제 90분 소요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2644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−1시간 + 점심 누락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C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"서울 데이트 힐링"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3895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테마는 "힐링"이지만 일정에 클럽·시장 포함 — 분류 정합성 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1330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만족도 ↓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60720" y="1828800"/>
            <a:ext cx="2926080" cy="256032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0" y="1828800"/>
            <a:ext cx="36576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360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검증 부재의 영향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43600" y="23317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1순위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불편 항목 = 일정·동선 오류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(2025 국민여행조사 4Q)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0" y="32461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61.4%</a:t>
            </a:r>
            <a:endParaRPr lang="en-US" sz="2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0" y="37124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여행 후 "다음에 다르게 짤 것" 응답 비율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0" y="4023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−16시간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4242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여행당 평균 시간 손실 추정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출처  2025년 국민여행조사 3·4분기 결과(잠정치) · 한국관광공사 관광데이터랩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04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 솔루션과의 비교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왜 "검증 레이어"가 비어 있는 시장 공백인가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 / 카테고리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네이버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카카오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구글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트리플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솔루션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POI 추천 / 검색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지도 · 길찾기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API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충돌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이동 vs 관광 비율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테마 정합성 (LLM)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일자별 동선 밀집도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근거 기반 설명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●  지원   /   ○  미지원   /   API  외부 API 위임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05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02 · 솔루션 비전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가능성, 또 하나의 품질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Hybrid Travel Plan QA Engine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"실행 가능한가?"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운영시간 · 이동시간 · 체류시간 · Depot 제약을 OR-Tools VRPTW로 결정적 판정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"얼마나 좋은 일정인가?"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이동 비율 · 동선 밀집도(M1—M4) · 테마 정합성 · 혼잡도 4종 패널티로 0–100 점수화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"왜 그렇게 판정했는가?"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315468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15000" y="1920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3-Layer Engine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VRPTW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15000" y="2606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Hard Fail · Warning 결정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15000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Scoring 4종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15000" y="3291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Travel · Cluster · Theme · Congestion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1500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LLM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5000" y="3977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Fact–Rule–Risk–Suggestion 설명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02 · 솔루션 비전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End-to-End 파이프라인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일정 입력 → 검증 → Risk Score + 설명까지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1. Input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POI 이름 + 일자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456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9456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2. Resolve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TourAPI / Kakao 매칭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4904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3192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3192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233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 Matrix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Kakao Mobility 이동시간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607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 Validate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072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VRPTW 결정 (Hard/Warn)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376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0664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06640" y="1828800"/>
            <a:ext cx="36576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5. Score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 패널티 + Risk 0–100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36576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출력 ① — Final Risk Score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0–100 점수 (PASS ≥ 60)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Hard Fail Cap → 자동 ≤ 59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일별 누적 + 전체 합산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3246120"/>
            <a:ext cx="36576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출력 ② — Evidence-based 설명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632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Fact / Rule / Risk / Suggestion 4-튜플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Claude Sonnet 4.6 + prompt caching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JSON 강제 스키마 — 후처리 친화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07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1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VRPTW 엔진 — 일정을 "라우팅 문제"로 환원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Vehicle Routing Problem with Time Windows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문제 정의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"하루 일정 = N개 정점 + 시간 창(time window) + 이동시간 행렬을 가진 단일-차량 경로 문제"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입력 변수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open · close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각 POI 영업시간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dwell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권장 체류시간 (5단계 폴백)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T(i,j)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Kakao Mobility 실측 행렬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depot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숙소 (1박 이상 일정 한정)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393192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Solver  (Google OR-Tools)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611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1.  </a:t>
            </a:r>
            <a:r>
              <a:rPr lang="en-US" sz="11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Path-Cheapest-Arc 초기해
</a:t>
            </a:r>
            <a:r>
              <a:rPr lang="en-US" sz="12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2.  </a:t>
            </a:r>
            <a:r>
              <a:rPr lang="en-US" sz="11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Guided Local Search 메타휴리스틱
</a:t>
            </a:r>
            <a:r>
              <a:rPr lang="en-US" sz="12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3.  </a:t>
            </a:r>
            <a:r>
              <a:rPr lang="en-US" sz="11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Time Window 위반 시 슬랙 변수로 패널티
</a:t>
            </a:r>
            <a:r>
              <a:rPr lang="en-US" sz="12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4.  </a:t>
            </a:r>
            <a:r>
              <a:rPr lang="en-US" sz="11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Depot constraint = 시작/종료 강제 정점
</a:t>
            </a:r>
            <a:r>
              <a:rPr lang="en-US" sz="12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5.  </a:t>
            </a:r>
            <a:r>
              <a:rPr lang="en-US" sz="11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User route vs Optimal route 격차 → Efficiency Gap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Foundational Reference 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Solomon, M.M. (1987). "Algorithms for the Vehicle Routing and Scheduling Problems with Time Window Constraints."  </a:t>
            </a: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Operations Research, 35(2): 254–265.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08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1 / 5 · DEPOT 제약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다일 일정의 "숙소 닻" 제약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Depot Constraint — 1일차 종료 / 마지막 날 시작 = 숙소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4864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당일치기 (1day)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3484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9019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901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Depot 제약 면제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6576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542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1일차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6032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7180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3484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1일차 → 마지막 정점 = 숙소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182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중간 일자 (2 ~ N-1일)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6032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71800" y="3182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3484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3182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양쪽 모두 숙소 강제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822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마지막 일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6032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71800" y="3822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43484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0" y="3822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마지막 날 → 첫 정점 = 숙소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위반 시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rule = depot_constraint, risk = CRITICAL → Hard Fail Cap 적용으로 final_risk_score ≤ 59 처리.  </a:t>
            </a: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(코드 참고:  src/validation/vrptw_engine.py:_check_depot_constraints)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09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2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8개 패널티 매트릭스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Hard Fail vs Warning vs Score Penalty 명시 분류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288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요구사항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173736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0" y="1783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 모듈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1783080"/>
            <a:ext cx="11887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1783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Hard Fail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11887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12080" y="1783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Warning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118872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Penalty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093976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093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① 영업시간 준수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0" y="2093976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86000" y="20939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vrptw_engine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23360" y="2093976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23360" y="2093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12080" y="2093976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12080" y="2093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2093976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0" y="2093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89520" y="2093976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2093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404872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4048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② 이동시간 현실성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86000" y="2404872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286000" y="2404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kakao_matrix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23360" y="240487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023360" y="2404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212080" y="240487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12080" y="2404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0" y="240487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0" y="2404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89520" y="2404872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89520" y="2404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2715768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27157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③ 권장 체류시간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286000" y="2715768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286000" y="27157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data/dwell_db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023360" y="2715768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023360" y="27157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212080" y="2715768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212080" y="27157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0" y="2715768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400800" y="27157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589520" y="2715768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589520" y="27157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3026664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30266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④ 이동 vs 관광 비율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286000" y="3026664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286000" y="30266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scoring/travel_ratio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023360" y="3026664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023360" y="30266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212080" y="3026664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12080" y="30266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400800" y="3026664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00800" y="30266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589520" y="3026664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589520" y="30266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57200" y="3337560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57200" y="3337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⑤ 일별 동선 밀집도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286000" y="3337560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286000" y="3337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scoring/cluster_dispersion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023360" y="3337560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02336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212080" y="3337560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21208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400800" y="3337560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400800" y="3337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589520" y="3337560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589520" y="33375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 M1–M4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57200" y="3648456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57200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⑥ 테마 정합성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286000" y="3648456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286000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scoring/theme_alignment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023360" y="36484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4023360" y="36484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212080" y="36484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5212080" y="36484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400800" y="36484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400800" y="36484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589520" y="3648456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589520" y="36484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 LLM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7200" y="3959352"/>
            <a:ext cx="182880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57200" y="3959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⑦ 혼잡도 — 서울 실시간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286000" y="3959352"/>
            <a:ext cx="173736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286000" y="3959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data/seoul_citydata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4023360" y="3959352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4023360" y="39593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5212080" y="3959352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5212080" y="39593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400800" y="3959352"/>
            <a:ext cx="118872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6400800" y="39593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589520" y="3959352"/>
            <a:ext cx="1097280" cy="31089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589520" y="39593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457200" y="4270248"/>
            <a:ext cx="18288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57200" y="4270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⑧ 혼잡도 — 전국 계절성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286000" y="4270248"/>
            <a:ext cx="1737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286000" y="42702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scoring/congestion_engine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023360" y="42702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023360" y="4270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5212080" y="42702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5212080" y="4270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400800" y="42702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400800" y="42702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7589520" y="4270248"/>
            <a:ext cx="1097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7589520" y="42702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Hard Fail (final ≤ 59)     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Score Penalty (감점)    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—   해당 없음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10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3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역방향 이동 · 지오 백트래킹 탐지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DBSCAN(eps = 2 km, haversine) 기반 동선 응집도 평가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일별(per-day) 4 metric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M1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 전환 횟수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M2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최대 두 장소 간 직선거리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M3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 재방문 (행정 단위)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M4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DBSCAN 클러스터 역행 (좌표 기반)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37160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예시 — 시군구가 다른 두 장소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Case ✓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P₁ → P₂ 가 </a:t>
            </a:r>
            <a:r>
              <a:rPr lang="en-US" sz="10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경로상 직선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(P₁이 P₂ 가는 길에 위치) → 효율적, 패널티 없음
</a:t>
            </a:r>
            <a:r>
              <a:rPr lang="en-US" sz="11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✗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P₂ 도착 후 P₁로 </a:t>
            </a: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되돌아가는 순서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→ 클러스터 역행 탐지 + 거리 패널티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탐지 메커니즘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전체 정점을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haversine 거리 + DBSCAN(eps = 2 km, min_samples = 2)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로 클러스터링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방문 순서 따라 클러스터 라벨 시퀀스 추출 → 동일 라벨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재출현(A → B → A)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카운트 = M4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M3(시군구 재방문)와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중복 제거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:  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net_M4 = max(0, M4 − M3)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같은 사건 이중 카운트 방지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행정 단위(M3)는 "강북·강남"이 인접해도 다른 시군구로 셈 → 좌표 기반 M4가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오탐 보정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11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4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실시간 혼잡도 엔진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서울 도시데이터 + 전국 계절성 폴백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88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Layer 1 · 실시간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서울 도시데이터 API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서울 116개 주요 관광지 5분 단위 인구 갱신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CONGEST_LVL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여유 / 보통 / 약간 붐빔 / 붐빔 4단계
•  도착 시각 기준 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예상 혼잡도 매핑
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"붐빔" + 도착 ±30분 ⟶ 패널티 −5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36576" cy="2788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Layer 2 · 폴백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전국 계절성 CSV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관광 통계월보(202602) 기반 시군구별 월별 가중치
•  성수기 / 비수기 / 주말 보정 계수 자동 적용
•  서울 외 지역 + Seoul API 미응답 시 자동 폴백
</a:t>
            </a:r>
            <a:r>
              <a:rPr lang="en-US" sz="1100" i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congestion_engine.py 가 Layer 1 → 2 라우팅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5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Evidence-based 설명 엔진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Claude Sonnet 4.6 · 구조화 4-튜플 · JSON 강제 스키마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55448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Output 스키마 — 4-Tuple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fact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관측된 사실 (시간/거리/매칭)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rule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위반된 규칙 ID (time_window_inf 등)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risk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CRITICAL · WARNING · INFO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suggestion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사용자 행동 가능한 수정 제안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1148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6576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작동 메커니즘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1.  Validation 결과 + POI 메타 → 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system prompt(cached)
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2.  </a:t>
            </a: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tool_use 강제 호출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JSON 스키마 위반 자동 거절
3.  </a:t>
            </a: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Repair 2-pass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1차: 진단, 2차: 수정안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실제 출력 예시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{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"fact":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"감천문화마을 도착 21:10이나 운영 종료 18:00. 입장 불가.",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"rule":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"time_window_infeasibility",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"risk": </a:t>
            </a: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"CRITICAL",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"suggestion":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"광안리 → 감천 순서를 뒤집고 감천 14:00 도착으로 조정."
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}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LLM 환각(hallucination) 방지 — 모든 fact는 검증 엔진의 수치만 인용, 자유 텍스트 생성 금지.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04 · RISK SCORE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Final Risk Score 산정 공식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100 시작 → 위반/패널티 차감 → Hard Fail Cap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산정 절차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score = 100
</a:t>
            </a:r>
            <a:r>
              <a:rPr lang="en-US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− Σ </a:t>
            </a:r>
            <a:r>
              <a:rPr lang="en-US" sz="13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VRPTW_CRITICAL × 15
</a:t>
            </a:r>
            <a:r>
              <a:rPr lang="en-US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− Σ </a:t>
            </a:r>
            <a:r>
              <a:rPr lang="en-US" sz="13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VRPTW_WARNING  ×  5
</a:t>
            </a:r>
            <a:r>
              <a:rPr lang="en-US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travel_ratio_penalty
</a:t>
            </a:r>
            <a:r>
              <a:rPr lang="en-US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cluster_penalty   (cap −20 / day)
</a:t>
            </a:r>
            <a:r>
              <a:rPr lang="en-US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theme_alignment_penalty
</a:t>
            </a:r>
            <a:r>
              <a:rPr lang="en-US" sz="13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  − </a:t>
            </a:r>
            <a:r>
              <a:rPr lang="en-US" sz="1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congestion_penalty
</a:t>
            </a:r>
            <a:r>
              <a:rPr lang="en-US" sz="12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if  any CRITICAL  →  </a:t>
            </a: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score = min(score, 59)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20640" y="1783080"/>
            <a:ext cx="35661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36576" cy="1325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03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등급 컷오프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PASS  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≥ 60   추천 가능
</a:t>
            </a:r>
            <a:r>
              <a:rPr lang="en-US" sz="11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REVIEW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40–59  수정 필요
</a:t>
            </a:r>
            <a:r>
              <a:rPr lang="en-US" sz="11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FAIL  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&lt; 40   재구성 권고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20640" y="3200400"/>
            <a:ext cx="35661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20640" y="3200400"/>
            <a:ext cx="36576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Hard Fail Cap 의 의미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0" y="3611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"실행 불가능한 일정"에 60점 이상이 부여될 수 없도록 시스템적으로 봉쇄. 운영시간 충돌·Depot 위반 등 결정적 결함은 자동으로 PASS 임계 미만으로 끌어내림.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14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05 · 데이터 자산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검증의 토대 — 데이터 자산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공공 API 3종 + 자체 구축 자산 4종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50,234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TourAPI 수집 POI 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36576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8 종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ContentTypeId 전 카테고리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322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검증 완료 장소 (큐레이션 70 일정)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66560" y="1783080"/>
            <a:ext cx="36576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70+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큐레이션 일정 — 17 시도 모두 포함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1148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자체 구축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pois_processed.csv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주소(시도/시군구/읍면동) + 날짜 분리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kakao_route_cache.json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양방향 캐시 — Mobility 호출 절감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dwell_db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체류시간 5단계 폴백 (manual → lcls3 → lcls1 → contentType → default)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itinerary_results_*.xlsx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27 컬럼 검증 출력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외부 API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TourAPI v2 (KorService2)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POI 메타 + 카테고리 + 좌표 + 운영시간(detailIntro2)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Kakao Mobility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이동시간 행렬 (실측 도로망)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Kakao Local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POI 좌표 정규화 폴백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•  서울 도시데이터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주요 116개 관광지 5분 단위 실시간 인구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15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05 · 데이터 자산 (계속)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정성·정량 검증 외부 레퍼런스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한국관광공사 관광데이터랩 7종 + 통계월보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01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2025년 국민여행조사 4분기 (잠정)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관광데이터랩 · 여행 횟수 · 일수 · 동선 불편 응답률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02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2025년 국민여행조사 3분기 (잠정)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064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관광데이터랩 · 성수기 패턴 · 지역 분포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03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빅데이터와 함께하는 똑똑한 컨설팅 종합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관광 빅데이터 활용 사례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1772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2064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관광자원개발 및 관광투자 동향조사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2064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권역별 자원 분포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2916936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05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012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우수웰니스관광지 만족도 및 실태조사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012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테마 정합성 검증 사례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1772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17720" y="2916936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5488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06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2064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Data&amp;Tourism 43호 — 방한 주요국 한국 여행 분석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2064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관광컨설팅팀 · 외국인 동선 인사이트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3483864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3483864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07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97280" y="35478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관광 통계월보 202602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97280" y="3739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0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시군구별 월 가중치 (혼잡 폴백)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모든 자료는 한국관광공사 관광데이터랩(datalab.visitkorea.or.kr)에서 공식 제공 · 출처 표기 필수.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16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1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End-to-End 파이프라인 실행 결과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70개 큐레이션 일정 → 322 장소 → 검증 완료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입력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recommendations_input.xlsx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17개 시도 모두 포함
• 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당일치기 / 1박2일 / 2박3일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혼합
•  카테고리 = 관광지 · 식당 · 카페 · 시장
•  AI001 ~ AI070  연속 plan_id
•  data row 총 322개 (장소 단위)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처리 단계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221284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221742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85232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POI 매칭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85232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TourAPI 정확/부분 매칭 + 시군구 보정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259689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601468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85232" y="25786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체류시간 추정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85232" y="27614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5단계 폴백 → 체류출처 라벨링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298094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9855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85232" y="29626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Kakao 행렬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5232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이동시간 양방향 캐시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336499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369564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85232" y="33467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VRPTW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85232" y="3529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Hard/Warning 후보 생성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37490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0" y="37536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85232" y="3730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Score 4종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85232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travel · cluster · theme · congestion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41330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46320" y="413766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85232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Excel 출력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85232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27 컬럼 + risk_score 포함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17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2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POI 매칭 정확도 — 96.0%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공공 API 단일 소스로 90% 매칭 목표 초과 달성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96.0%</a:t>
            </a:r>
            <a:endParaRPr lang="en-US" sz="9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309 / 322 장소 매칭 성공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실패 13개 = 카페·로컬 식당 (TourAPI 미등록 자영업)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2080" y="1783080"/>
            <a:ext cx="347472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4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매칭 단계 분포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40680" y="2468880"/>
            <a:ext cx="288036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0680" y="26517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77.0%   ·   248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0680" y="2807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partial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40680" y="3035808"/>
            <a:ext cx="47507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40680" y="321868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12.7%   ·   41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40680" y="3374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partial + sigungu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40680" y="3602736"/>
            <a:ext cx="23192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40680" y="37856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6.2%   ·   20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40680" y="3941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not_found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40680" y="4169664"/>
            <a:ext cx="149629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40680" y="43525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4.0%   ·   13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실패 케이스도 match_failed.csv로 별도 출력 → 이름 보정 후 재실행 가능 (운영 가능한 매칭률 보정 루프 내장).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18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3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70 일정 검증 결과 — 등급 분포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PASS / REVIEW / FAIL — risk_score 0–100 기준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011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PASS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≥ 60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47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67.1%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추천 가능 — Hard Fail 없음, 패널티 합 −40 이내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36576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REVIEW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7472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40 – 59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18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25.7%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수정 필요 — travel_ratio 또는 cluster M3+M4 발생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36576" cy="2011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93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FAIL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&lt; 40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0936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7.2%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36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재구성 권고 — 운영시간 충돌 또는 Depot 위반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패널티 발생 횟수 (70 일정 기준 · 다중 발생 허용)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Travel Ratio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21회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96596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Cluster M3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96596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13회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9184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Cluster M4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29184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9회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1772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Theme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1772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7회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4360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Congestion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4360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11회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6948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Depot 위반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6948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19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4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Sample Output — 실제 검증 1행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AI004 · 부산 1박2일 — risk_score = 47 (REVIEW)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plan_id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4572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day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645920" y="1783080"/>
            <a:ext cx="4572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03120" y="1783080"/>
            <a:ext cx="173736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0312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여행지명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0" y="1783080"/>
            <a:ext cx="10058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체류(분)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10058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이동(분)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52160" y="1783080"/>
            <a:ext cx="82296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52160" y="1783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출처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75120" y="1783080"/>
            <a:ext cx="9144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75120" y="1783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매칭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risk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2075688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2075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88720" y="2075688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88720" y="20756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645920" y="2075688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45920" y="20756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103120" y="2075688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10312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해운대해수욕장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840480" y="2075688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840480" y="2075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120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0" y="2075688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46320" y="2075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18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52160" y="2075688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52160" y="20756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lcls3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675120" y="2075688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675120" y="2075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2368296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23682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188720" y="2368296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88720" y="23682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645920" y="2368296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645920" y="23682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103120" y="2368296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103120" y="2368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누리마루APEC하우스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840480" y="2368296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84048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45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846320" y="2368296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84632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8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852160" y="2368296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852160" y="2368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lcls3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675120" y="2368296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675120" y="2368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57200" y="2660904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57200" y="26609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188720" y="2660904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188720" y="2660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645920" y="2660904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645920" y="2660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103120" y="2660904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103120" y="2660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마린시티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3840480" y="2660904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3840480" y="2660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60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846320" y="2660904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846320" y="2660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852160" y="2660904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852160" y="26609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lcls1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675120" y="2660904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675120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partial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57200" y="2953512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57200" y="2953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188720" y="2953512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188720" y="2953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1645920" y="2953512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645920" y="2953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2103120" y="2953512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2103120" y="2953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광안리해수욕장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3840480" y="2953512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3840480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90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4846320" y="2953512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4846320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5852160" y="2953512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5852160" y="2953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lcls3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6675120" y="2953512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6675120" y="2953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457200" y="3246120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57200" y="3246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1188720" y="3246120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188720" y="3246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1645920" y="3246120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1645920" y="3246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2103120" y="3246120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210312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감천문화마을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3840480" y="3246120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384048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75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846320" y="3246120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84632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5852160" y="3246120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5852160" y="3246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lcls3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675120" y="3246120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675120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457200" y="3538728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457200" y="3538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1188720" y="3538728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1188720" y="3538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1645920" y="3538728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1645920" y="3538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2103120" y="3538728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103120" y="3538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자갈치시장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3840480" y="3538728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3840480" y="3538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60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4846320" y="3538728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4846320" y="3538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5852160" y="3538728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5852160" y="3538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manual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6675120" y="3538728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6675120" y="3538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457200" y="3831336"/>
            <a:ext cx="7315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457200" y="3831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1188720" y="3831336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1188720" y="38313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1645920" y="3831336"/>
            <a:ext cx="4572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1645920" y="38313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2103120" y="3831336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2103120" y="3831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국제시장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3840480" y="3831336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3840480" y="3831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45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4846320" y="3831336"/>
            <a:ext cx="10058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4846320" y="3831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5852160" y="3831336"/>
            <a:ext cx="8229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5" name="Text 143"/>
          <p:cNvSpPr/>
          <p:nvPr/>
        </p:nvSpPr>
        <p:spPr>
          <a:xfrm>
            <a:off x="5852160" y="3831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manual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6675120" y="3831336"/>
            <a:ext cx="9144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7" name="Text 145"/>
          <p:cNvSpPr/>
          <p:nvPr/>
        </p:nvSpPr>
        <p:spPr>
          <a:xfrm>
            <a:off x="6675120" y="38313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457200" y="4123944"/>
            <a:ext cx="7315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1" name="Text 149"/>
          <p:cNvSpPr/>
          <p:nvPr/>
        </p:nvSpPr>
        <p:spPr>
          <a:xfrm>
            <a:off x="457200" y="4123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AI004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1188720" y="4123944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1188720" y="4123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1645920" y="4123944"/>
            <a:ext cx="4572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1645920" y="4123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2103120" y="4123944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2103120" y="4123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BIFF광장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3840480" y="4123944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3840480" y="4123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30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0" name="Shape 158"/>
          <p:cNvSpPr/>
          <p:nvPr/>
        </p:nvSpPr>
        <p:spPr>
          <a:xfrm>
            <a:off x="4846320" y="4123944"/>
            <a:ext cx="10058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4846320" y="4123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5852160" y="4123944"/>
            <a:ext cx="8229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5852160" y="41239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default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6675120" y="4123944"/>
            <a:ext cx="9144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6675120" y="4123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partial+sigungu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457200" y="4251960"/>
            <a:ext cx="3657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0" name="Text 168"/>
          <p:cNvSpPr/>
          <p:nvPr/>
        </p:nvSpPr>
        <p:spPr>
          <a:xfrm>
            <a:off x="640080" y="4370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risk_score = 47  (REVIEW) 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= 100 − </a:t>
            </a:r>
            <a:r>
              <a:rPr lang="en-US" sz="10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VRPTW WARN×5(이동시간 마진 부족) </a:t>
            </a:r>
            <a:r>
              <a:rPr lang="en-US" sz="10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− travel_ratio 16 − cluster_M3 12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− theme 0 </a:t>
            </a:r>
            <a:r>
              <a:rPr lang="en-US" sz="10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− congestion 20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2" name="Text 17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20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07 · 활용 시나리오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활용 시나리오 — 누가, 어떻게 쓰는가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B2C · B2B · 공공 3대 시장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B2C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여행 앱의 "검증 배지"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30632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추천 일정 옆에 "PASS · 87점" 배지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35204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AI 일정 자동 검수로 차별화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9776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FastAPI 임베딩 — 1 호출 200ms 미만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9184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91840" y="1783080"/>
            <a:ext cx="36576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472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B2B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7472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여행사 코스 운영 도구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93008" y="30632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9300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86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신규 패키지 출시 전 자동 QA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93008" y="35204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9300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8620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Hard Fail 케이스 사전 필터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9300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8620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Excel 27 컬럼 출력 → 운영팀 검토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2648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1783080"/>
            <a:ext cx="36576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0936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0936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지자체 관광 플랫폼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27648" y="30632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2764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2084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"권역별 추천" 페이지 자동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27648" y="35204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2764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2084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혼잡도 기반 분산 유도 정책 반영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27648" y="39776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2764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2084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관광데이터랩 통계와 연동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21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07 · 로드맵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확장 로드맵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현재 PoC → 정식 출시까지 4 단계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594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Now · v0.9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9456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PoC 완성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60320" y="21396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VRPTW + 4 Scoring + Claude · 70 일정 검증 · 96% 매칭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36576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Q3 2026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9456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60320" y="2606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풀 통합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60320" y="2852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TourAPI detailIntro2 usetime 50K POI 일괄 수집 → 정규식 파싱 + 신뢰도 라벨링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36576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Q4 2026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9456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6032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FastAPI 정식 서버 + Naver 폴백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60320" y="3566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REST 엔드포인트 5종 · Naver 검색 폴백으로 카페·식당 매칭률 99% 목표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968496"/>
            <a:ext cx="822960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3968496"/>
            <a:ext cx="36576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2027 H1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19456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560320" y="40325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Multi-modal 확장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560320" y="4279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지하철/버스 환승 시간 통합 · 사진 메타로 체류시간 자동 추정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운영시간 데이터  →  TourAPI detailIntro2 의 usetime 필드 (예: "09:00~18:00(입장마감 17:00)")  ·  일일 10K 호출 한도, 50K POI는 약 5일 분할 수집.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08 · 한계 · 강점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정직한 한계 + 차별화된 강점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Limitations &amp; Strengths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현재의 한계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카페·로컬 식당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TourAPI 미등록 케이스 4% 매칭 실패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일괄 적재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현재는 표본만, 50K 전수 수집은 로드맵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3741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LLM 비용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테마 정합성 호출당 ~$0.0003, 캐싱으로 완화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서울 외 실시간 혼잡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API 미제공 → 계절성 폴백 의존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402336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차별화된 강점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레이어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66360" y="2414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기존 추천 서비스가 비워둔 시장 공백을 정조준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2670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670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결합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Rule(VRPTW) + Score(4종) + LLM(설명) 단일 파이프라인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127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6636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 가능성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66360" y="33284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모든 판정이 fact·rule·suggestion 으로 추적 가능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3584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66360" y="3584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공공 데이터 우선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66360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TourAPI · Kakao · 서울 도시데이터 + 관광데이터랩 통계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0" y="4041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66360" y="4041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 매칭률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6636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70 일정 322 장소 96% 매칭 — 운영 가능 수준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/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References &amp; Acknowledgements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References</a:t>
            </a:r>
            <a:endParaRPr lang="en-US" sz="3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관광데이터랩 — 2025년 국민여행조사 3·4분기 결과(잠정치)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빅데이터와 함께하는 똑똑한 컨설팅 종합보고서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597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관광자원개발 및 관광투자 동향조사 분석 최종보고서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7523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우수웰니스관광지 만족도 및 실태조사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3044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관광컨설팅팀 — Data&amp;Tourism 43호: 소셜 데이터 기반 방한 주요국 한국 여행 분석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6.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관광 통계월보 (202602)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7.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5840" y="3630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Solomon, M.M. (1987). Algorithms for the Vehicle Routing and Scheduling Problems with Time Window Constraints. Operations Research, 35(2): 254–265.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922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8.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922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TourAPI v2 (KorService2) · Kakao Mobility API · 서울특별시 실시간 도시데이터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4215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9.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42153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Anthropic Claude Sonnet 4.6 · Google OR-Tools (constraint_solver)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Thank you.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이건상  ·  2026.05.02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</a:majorFont>
      <a:minorFont>
        <a:latin typeface="Pretendard" panose="020F0502020204030204"/>
        <a:ea typeface="Pretendard"/>
        <a:cs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3489</Words>
  <Application>Microsoft Macintosh PowerPoint</Application>
  <PresentationFormat>화면 슬라이드 쇼(16:9)</PresentationFormat>
  <Paragraphs>669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관광 일정 QA 엔진 — Explainable Travel Plan Validator</dc:title>
  <dc:subject>PptxGenJS Presentation</dc:subject>
  <dc:creator>이건상</dc:creator>
  <cp:lastModifiedBy>이건상</cp:lastModifiedBy>
  <cp:revision>1</cp:revision>
  <dcterms:created xsi:type="dcterms:W3CDTF">2026-05-02T11:25:05Z</dcterms:created>
  <dcterms:modified xsi:type="dcterms:W3CDTF">2026-05-02T11:33:20Z</dcterms:modified>
</cp:coreProperties>
</file>
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552" y="1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664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77240" y="640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관광데이터 활용 공모전 · 웹앱개발 부문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관광 일정 QA 엔진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Travel Plan Validator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"우리는 일정을 추천하지 않는다.  그 일정이 가능한지, 좋은지를 증명한다."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출품  </a:t>
            </a:r>
            <a:r>
              <a:rPr lang="en-US" sz="1400" b="1" dirty="0">
                <a:solidFill>
                  <a:srgbClr val="FFFFFF"/>
                </a:solidFill>
              </a:rPr>
              <a:t>이건상
</a:t>
            </a:r>
            <a:r>
              <a:rPr lang="en-US" sz="1100" dirty="0">
                <a:solidFill>
                  <a:srgbClr val="9CA3AF"/>
                </a:solidFill>
              </a:rPr>
              <a:t>제출일  </a:t>
            </a:r>
            <a:r>
              <a:rPr lang="en-US" sz="1200" dirty="0">
                <a:solidFill>
                  <a:srgbClr val="FFFFFF"/>
                </a:solidFill>
              </a:rPr>
              <a:t>2026.05.02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FastAPI · OR-Tools · Claude Sonnet 4.6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섹션 · 24장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7830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추천은 많지만 검증은 없다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0" y="1783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1488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비전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가능성이 또 하나의 품질이다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2148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07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5146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차별점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VRPTW · DBSCAN · LLM 하이브리드 (5종)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25146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13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28803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880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패널티 매트릭스 + Hard Fail Cap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2880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2461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자산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246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TourAPI 50K POI + 공공 통계 7종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3246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6118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결과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일정 · 322 장소 · 매칭률 96%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36118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— 20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9776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3977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시나리오 · 로드맵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37560" y="3977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· B2B · 공공 + 운영시간 통합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3977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— 22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3434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43000" y="4343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· 강점 · 레퍼런스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37560" y="4343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 보고서 7종 + 학술 1종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89520" y="43434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— 24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문제 정의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추천은 풍성하지만, 검증은 비어 있다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서비스의 사각지대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743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여행 시장의 현실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23.7조 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27980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국내 여행 지출 규모 (한국문화관광연구원)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1억 5,580만 회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36667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연간 국내 여행 횟수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평균 2.4일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1회당 여행 일수 (2025 국민여행조사 4Q)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783080"/>
            <a:ext cx="406908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00600" y="19659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사용자가 마주치는 것은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238658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00600" y="239115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운영시간 충돌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도착했는데 영업 종료 — 동선 재구성 필요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88950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00600" y="289407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비현실적 이동시간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지도엔 30분, 실제 출퇴근 시간엔 70분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39242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00600" y="339699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체류시간 추정 불일치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경복궁 30분으로 끊으면 사실상 입장 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89534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800600" y="389991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3840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테마 불일치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"힐링"인데 일정에 클럽·시장이 끼어 있음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: 추천은 "무엇을 갈지" 알려주지만, "실제 갈 수 있는지"를 증명하지 못한다.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문제 정의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부재가 만드는 실제 손실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현장에서 반복되는 동선 실패 패턴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"부산 1박2일 추천 코스"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광안리(20:00 도착) → 감천문화마을(21:00) → 운영 종료 18:00 → 입장 불가, 일정 30% 폐기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957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−2시간 + 택시비 ₩28,000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788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"제주 가족 코스"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0266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한라산(09:00 입장) → 동문시장(11:00 도착) — 50km 이동을 30분으로 표기, 실제 90분 소요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2644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−1시간 + 점심 누락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3657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"서울 데이트 힐링"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8953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테마는 "힐링"이지만 일정에 클럽·시장 포함 — 분류 정합성 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13308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만족도 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60720" y="1828800"/>
            <a:ext cx="2926080" cy="2560320"/>
          </a:xfrm>
          <a:prstGeom prst="rect">
            <a:avLst/>
          </a:prstGeom>
          <a:solidFill>
            <a:srgbClr val="E0F2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760720" y="1828800"/>
            <a:ext cx="36576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943600" y="1965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부재의 영향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233172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1순위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943600" y="2798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불편 항목 = 일정·동선 오류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 국민여행조사 4Q)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324612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61.4%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943600" y="37124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 후 "다음에 다르게 짤 것" 응답 비율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40233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−16시간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43600" y="42428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여행당 평균 시간 손실 추정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 2025년 국민여행조사 3·4분기 결과(잠정치) · 한국관광공사 관광데이터랩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문제 정의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솔루션과의 비교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"검증 레이어"가 비어 있는 시장 공백인가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202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/ 카테고리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37744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1783080"/>
            <a:ext cx="11887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49808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솔루션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67128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167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추천 / 검색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37744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21792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0" y="2167128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498080" y="2167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2551176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7200" y="25511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· 길찾기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7744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37744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65760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93776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93776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1792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21792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98080" y="255117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498080" y="25511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2935224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7200" y="2935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운영시간 충돌 검증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7744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237744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65760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365760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93776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93776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21792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21792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498080" y="2935224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7498080" y="29352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57200" y="3319272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57200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vs 관광 비율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37744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237744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65760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365760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93776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493776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21792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621792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498080" y="331927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7498080" y="3319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457200" y="3703320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57200" y="3703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테마 정합성 (LLM)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37744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237744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365760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365760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493776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493776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21792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621792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7498080" y="3703320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7498080" y="3703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457200" y="4087368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457200" y="4087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일자별 동선 밀집도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37744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237744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365760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365760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493776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493776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21792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621792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7498080" y="408736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7498080" y="4087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457200" y="4471416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457200" y="4471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기반 설명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237744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237744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365760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365760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493776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493776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621792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621792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7498080" y="4471416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7498080" y="44714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지원   /   ○  미지원   /   API  외부 API 위임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솔루션 비전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가능성, 또 하나의 품질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Travel Plan QA Engine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"실행 가능한가?"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운영시간 · 이동시간 · 체류시간 · Depot 제약을 OR-Tools VRPTW로 결정적 판정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"얼마나 좋은 일정인가?"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비율 · 동선 밀집도(M1—M4) · 테마 정합성 · 혼잡도 4종 패널티로 0–100 점수화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"왜 그렇게 판정했는가?"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532120" y="1783080"/>
            <a:ext cx="315468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715000" y="1920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VRPTW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715000" y="2606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Fail · Warning 결정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2926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4종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15000" y="3291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· Cluster · Theme · Congestion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36118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LLM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15000" y="3977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Fact–Rule–Risk–Suggestion 설명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솔루션 비전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파이프라인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일정 입력 → 검증 → Risk Score + 설명까지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이름 + 일자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9456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194560" y="1828800"/>
            <a:ext cx="36576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Resolve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TourAPI / Kakao 매칭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3192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931920" y="1828800"/>
            <a:ext cx="36576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0233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Matrix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Kakao Mobility 이동시간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669280" y="1828800"/>
            <a:ext cx="36576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76072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VRPTW 결정 (Hard/Warn)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0664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406640" y="1828800"/>
            <a:ext cx="36576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980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패널티 + Risk 0–100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36576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① — Final Risk Score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363016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0–100 점수 (PASS ≥ 60)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Fail Cap → 자동 ≤ 59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일별 누적 + 전체 합산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24612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663440" y="3246120"/>
            <a:ext cx="36576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4632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② — Evidence-based 설명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363016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 / Rule / Risk / Suggestion 4-튜플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Sonnet 4.6 + prompt caching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강제 스키마 — 후처리 친화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기술적 차별점 — 1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VRPTW 엔진 — 일정을 "라우팅 문제"로 환원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Routing Problem with Time Windows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"하루 일정 = N개 정점 + 시간 창(time window) + 이동시간 행렬을 가진 단일-차량 경로 문제"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변수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 open · close </a:t>
            </a:r>
            <a:r>
              <a:rPr lang="en-US" sz="1000" dirty="0">
                <a:solidFill>
                  <a:srgbClr val="6B7280"/>
                </a:solidFill>
              </a:rPr>
              <a:t>각 POI 영업시간
</a:t>
            </a:r>
            <a:r>
              <a:rPr lang="en-US" sz="1100" b="1" dirty="0">
                <a:solidFill>
                  <a:srgbClr val="1F2937"/>
                </a:solidFill>
              </a:rPr>
              <a:t>•  dwell </a:t>
            </a:r>
            <a:r>
              <a:rPr lang="en-US" sz="1000" dirty="0">
                <a:solidFill>
                  <a:srgbClr val="6B7280"/>
                </a:solidFill>
              </a:rPr>
              <a:t>권장 체류시간 (5단계 폴백)
</a:t>
            </a:r>
            <a:r>
              <a:rPr lang="en-US" sz="1100" b="1" dirty="0">
                <a:solidFill>
                  <a:srgbClr val="1F2937"/>
                </a:solidFill>
              </a:rPr>
              <a:t>•  T(i,j) </a:t>
            </a:r>
            <a:r>
              <a:rPr lang="en-US" sz="1000" dirty="0">
                <a:solidFill>
                  <a:srgbClr val="6B7280"/>
                </a:solidFill>
              </a:rPr>
              <a:t>Kakao Mobility 실측 행렬
</a:t>
            </a:r>
            <a:r>
              <a:rPr lang="en-US" sz="1100" b="1" dirty="0">
                <a:solidFill>
                  <a:srgbClr val="1F2937"/>
                </a:solidFill>
              </a:rPr>
              <a:t>•  depot </a:t>
            </a:r>
            <a:r>
              <a:rPr lang="en-US" sz="1000" dirty="0">
                <a:solidFill>
                  <a:srgbClr val="6B7280"/>
                </a:solidFill>
              </a:rPr>
              <a:t>숙소 (1박 이상 일정 한정)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3931920" cy="278892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 (Google OR-Tools)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611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0F2FE"/>
                </a:solidFill>
              </a:rPr>
              <a:t>1.  </a:t>
            </a:r>
            <a:r>
              <a:rPr lang="en-US" sz="1100" dirty="0">
                <a:solidFill>
                  <a:srgbClr val="FFFFFF"/>
                </a:solidFill>
              </a:rPr>
              <a:t>Path-Cheapest-Arc 초기해
</a:t>
            </a:r>
            <a:r>
              <a:rPr lang="en-US" sz="1200" b="1" dirty="0">
                <a:solidFill>
                  <a:srgbClr val="E0F2FE"/>
                </a:solidFill>
              </a:rPr>
              <a:t>2.  </a:t>
            </a:r>
            <a:r>
              <a:rPr lang="en-US" sz="1100" dirty="0">
                <a:solidFill>
                  <a:srgbClr val="FFFFFF"/>
                </a:solidFill>
              </a:rPr>
              <a:t>Guided Local Search 메타휴리스틱
</a:t>
            </a:r>
            <a:r>
              <a:rPr lang="en-US" sz="1200" b="1" dirty="0">
                <a:solidFill>
                  <a:srgbClr val="E0F2FE"/>
                </a:solidFill>
              </a:rPr>
              <a:t>3.  </a:t>
            </a:r>
            <a:r>
              <a:rPr lang="en-US" sz="1100" dirty="0">
                <a:solidFill>
                  <a:srgbClr val="FFFFFF"/>
                </a:solidFill>
              </a:rPr>
              <a:t>Time Window 위반 시 슬랙 변수로 패널티
</a:t>
            </a:r>
            <a:r>
              <a:rPr lang="en-US" sz="1200" b="1" dirty="0">
                <a:solidFill>
                  <a:srgbClr val="E0F2FE"/>
                </a:solidFill>
              </a:rPr>
              <a:t>4.  </a:t>
            </a:r>
            <a:r>
              <a:rPr lang="en-US" sz="1100" dirty="0">
                <a:solidFill>
                  <a:srgbClr val="FFFFFF"/>
                </a:solidFill>
              </a:rPr>
              <a:t>Depot constraint = 시작/종료 강제 정점
</a:t>
            </a:r>
            <a:r>
              <a:rPr lang="en-US" sz="1200" b="1" dirty="0">
                <a:solidFill>
                  <a:srgbClr val="E0F2FE"/>
                </a:solidFill>
              </a:rPr>
              <a:t>5.  </a:t>
            </a:r>
            <a:r>
              <a:rPr lang="en-US" sz="1100" dirty="0">
                <a:solidFill>
                  <a:srgbClr val="FFFFFF"/>
                </a:solidFill>
              </a:rPr>
              <a:t>User route vs Optimal route 격차 → Efficiency Gap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Foundational Reference   </a:t>
            </a:r>
            <a:r>
              <a:rPr lang="en-US" sz="1000" dirty="0">
                <a:solidFill>
                  <a:srgbClr val="1F2937"/>
                </a:solidFill>
              </a:rPr>
              <a:t>Solomon, M.M. (1987). "Algorithms for the Vehicle Routing and Scheduling Problems with Time Window Constraints."  </a:t>
            </a:r>
            <a:r>
              <a:rPr lang="en-US" sz="1000" i="1" dirty="0">
                <a:solidFill>
                  <a:srgbClr val="6B7280"/>
                </a:solidFill>
              </a:rPr>
              <a:t>Operations Research, 35(2): 254–265.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기술적 차별점 — 1 / 5 · DEPOT 제약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다일 일정의 "숙소 닻" 제약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Constraint — 1일차 종료 / 마지막 날 시작 = 숙소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54864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당일치기 (1day)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1901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9019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901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제약 면제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6576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5420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1일차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25420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71800" y="2542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25420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542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숙소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542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1일차 → 마지막 정점 = 숙소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36576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1821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일자 (2 ~ N-1일)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60320" y="31821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71800" y="31821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숙소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34840" y="31821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1821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숙소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182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 모두 숙소 강제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3703320"/>
            <a:ext cx="36576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0080" y="38221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일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60320" y="38221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71800" y="38221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숙소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34840" y="38221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38221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38221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날 → 첫 정점 = 숙소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위반 시  </a:t>
            </a:r>
            <a:r>
              <a:rPr lang="en-US" sz="1000" dirty="0">
                <a:solidFill>
                  <a:srgbClr val="1F2937"/>
                </a:solidFill>
              </a:rPr>
              <a:t>rule = depot_constraint, risk = CRITICAL → Hard Fail Cap 적용으로 final_risk_score ≤ 59 처리.  </a:t>
            </a:r>
            <a:r>
              <a:rPr lang="en-US" sz="900" i="1" dirty="0">
                <a:solidFill>
                  <a:srgbClr val="6B7280"/>
                </a:solidFill>
              </a:rPr>
              <a:t>(코드 참고:  src/validation/vrptw_engine.py:_check_depot_constraints)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기술적 차별점 — 2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8개 패널티 매트릭스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Fail vs Warning vs Score Penalty 명시 분류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82880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783080"/>
            <a:ext cx="173736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286000" y="1783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모듈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783080"/>
            <a:ext cx="118872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023360" y="1783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Fail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1783080"/>
            <a:ext cx="118872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212080" y="1783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118872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1783080"/>
            <a:ext cx="109728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589520" y="1783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093976"/>
            <a:ext cx="182880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0939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영업시간 준수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2093976"/>
            <a:ext cx="17373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286000" y="20939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vrptw_engine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23360" y="2093976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023360" y="2093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12080" y="2093976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212080" y="2093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2093976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0" y="2093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2093976"/>
            <a:ext cx="109728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589520" y="20939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2404872"/>
            <a:ext cx="1828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7200" y="24048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이동시간 현실성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0" y="2404872"/>
            <a:ext cx="1737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286000" y="24048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kakao_matrix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23360" y="2404872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023360" y="2404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212080" y="2404872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212080" y="2404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2404872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400800" y="2404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589520" y="2404872"/>
            <a:ext cx="1097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589520" y="24048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2715768"/>
            <a:ext cx="182880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7200" y="27157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권장 체류시간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0" y="2715768"/>
            <a:ext cx="17373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2286000" y="27157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data/dwell_db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023360" y="2715768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023360" y="27157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212080" y="2715768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212080" y="27157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00800" y="2715768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400800" y="27157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589520" y="2715768"/>
            <a:ext cx="109728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7589520" y="27157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57200" y="3026664"/>
            <a:ext cx="1828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57200" y="30266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이동 vs 관광 비율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286000" y="3026664"/>
            <a:ext cx="1737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2286000" y="30266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scoring/travel_ratio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023360" y="3026664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4023360" y="30266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212080" y="3026664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5212080" y="30266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400800" y="3026664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6400800" y="30266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589520" y="3026664"/>
            <a:ext cx="1097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7589520" y="30266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57200" y="3337560"/>
            <a:ext cx="182880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57200" y="33375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일별 동선 밀집도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286000" y="3337560"/>
            <a:ext cx="17373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2286000" y="33375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scoring/cluster_dispersion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023360" y="3337560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4023360" y="3337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212080" y="3337560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5212080" y="3337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400800" y="3337560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6400800" y="3337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7589520" y="3337560"/>
            <a:ext cx="109728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7589520" y="33375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M1–M4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57200" y="3648456"/>
            <a:ext cx="1828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457200" y="3648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테마 정합성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286000" y="3648456"/>
            <a:ext cx="1737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2286000" y="3648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scoring/theme_alignment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023360" y="3648456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023360" y="36484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212080" y="3648456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5212080" y="36484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400800" y="3648456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6400800" y="36484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589520" y="3648456"/>
            <a:ext cx="1097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7589520" y="36484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LLM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57200" y="3959352"/>
            <a:ext cx="182880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457200" y="39593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혼잡도 — 서울 실시간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286000" y="3959352"/>
            <a:ext cx="17373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2286000" y="3959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data/seoul_citydata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023360" y="3959352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4023360" y="39593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5212080" y="3959352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5212080" y="39593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6400800" y="3959352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6400800" y="39593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7589520" y="3959352"/>
            <a:ext cx="109728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7589520" y="39593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57200" y="4270248"/>
            <a:ext cx="1828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457200" y="42702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혼잡도 — 전국 계절성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2286000" y="4270248"/>
            <a:ext cx="1737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/>
          <p:nvPr/>
        </p:nvSpPr>
        <p:spPr>
          <a:xfrm>
            <a:off x="2286000" y="42702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scoring/congestion_engine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023360" y="4270248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/>
          <p:nvPr/>
        </p:nvSpPr>
        <p:spPr>
          <a:xfrm>
            <a:off x="4023360" y="42702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5212080" y="4270248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5212080" y="42702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6400800" y="4270248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6400800" y="42702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7589520" y="4270248"/>
            <a:ext cx="1097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1"/>
          <p:cNvSpPr/>
          <p:nvPr/>
        </p:nvSpPr>
        <p:spPr>
          <a:xfrm>
            <a:off x="7589520" y="42702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457200" y="44348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●  </a:t>
            </a:r>
            <a:r>
              <a:rPr lang="en-US" sz="1000" dirty="0">
                <a:solidFill>
                  <a:srgbClr val="1F2937"/>
                </a:solidFill>
              </a:rPr>
              <a:t>Hard Fail (final ≤ 59)     </a:t>
            </a:r>
            <a:r>
              <a:rPr lang="en-US" sz="1000" b="1" dirty="0">
                <a:solidFill>
                  <a:srgbClr val="065A82"/>
                </a:solidFill>
              </a:rPr>
              <a:t>▲  </a:t>
            </a:r>
            <a:r>
              <a:rPr lang="en-US" sz="1000" dirty="0">
                <a:solidFill>
                  <a:srgbClr val="1F2937"/>
                </a:solidFill>
              </a:rPr>
              <a:t>Score Penalty (감점)     </a:t>
            </a:r>
            <a:r>
              <a:rPr lang="en-US" sz="1000" dirty="0">
                <a:solidFill>
                  <a:srgbClr val="6B7280"/>
                </a:solidFill>
              </a:rPr>
              <a:t>—   해당 없음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기술적 차별점 — 3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역방향 이동 · 지오 백트래킹 탐지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DBSCAN(eps = 2 km, haversine) 기반 동선 응집도 평가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일별(per-day) 4 metric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7627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11827"/>
                </a:solidFill>
              </a:rPr>
              <a:t>M1  </a:t>
            </a:r>
            <a:r>
              <a:rPr lang="en-US" sz="1000" dirty="0">
                <a:solidFill>
                  <a:srgbClr val="1F2937"/>
                </a:solidFill>
              </a:rPr>
              <a:t>시군구 전환 횟수
</a:t>
            </a:r>
            <a:r>
              <a:rPr lang="en-US" sz="1100" b="1" dirty="0">
                <a:solidFill>
                  <a:srgbClr val="111827"/>
                </a:solidFill>
              </a:rPr>
              <a:t>M2  </a:t>
            </a:r>
            <a:r>
              <a:rPr lang="en-US" sz="1000" dirty="0">
                <a:solidFill>
                  <a:srgbClr val="1F2937"/>
                </a:solidFill>
              </a:rPr>
              <a:t>최대 두 장소 간 직선거리
</a:t>
            </a:r>
            <a:r>
              <a:rPr lang="en-US" sz="1100" b="1" dirty="0">
                <a:solidFill>
                  <a:srgbClr val="111827"/>
                </a:solidFill>
              </a:rPr>
              <a:t>M3  </a:t>
            </a:r>
            <a:r>
              <a:rPr lang="en-US" sz="1000" dirty="0">
                <a:solidFill>
                  <a:srgbClr val="1F2937"/>
                </a:solidFill>
              </a:rPr>
              <a:t>시군구 재방문 (행정 단위)
</a:t>
            </a:r>
            <a:r>
              <a:rPr lang="en-US" sz="1100" b="1" dirty="0">
                <a:solidFill>
                  <a:srgbClr val="111827"/>
                </a:solidFill>
              </a:rPr>
              <a:t>M4  </a:t>
            </a:r>
            <a:r>
              <a:rPr lang="en-US" sz="1000" dirty="0">
                <a:solidFill>
                  <a:srgbClr val="1F2937"/>
                </a:solidFill>
              </a:rPr>
              <a:t>DBSCAN 클러스터 역행 (좌표 기반)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1371600"/>
          </a:xfrm>
          <a:prstGeom prst="rect">
            <a:avLst/>
          </a:prstGeom>
          <a:solidFill>
            <a:srgbClr val="E0F2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36576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— 시군구가 다른 두 장소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</a:rPr>
              <a:t>Case ✓  </a:t>
            </a:r>
            <a:r>
              <a:rPr lang="en-US" sz="1000" dirty="0">
                <a:solidFill>
                  <a:srgbClr val="1F2937"/>
                </a:solidFill>
              </a:rPr>
              <a:t>P₁ → P₂ 가 </a:t>
            </a:r>
            <a:r>
              <a:rPr lang="en-US" sz="1000" b="1" dirty="0">
                <a:solidFill>
                  <a:srgbClr val="1F2937"/>
                </a:solidFill>
              </a:rPr>
              <a:t>경로상 직선</a:t>
            </a:r>
            <a:r>
              <a:rPr lang="en-US" sz="1000" dirty="0">
                <a:solidFill>
                  <a:srgbClr val="1F2937"/>
                </a:solidFill>
              </a:rPr>
              <a:t> (P₁이 P₂ 가는 길에 위치) → 효율적, 패널티 없음
</a:t>
            </a:r>
            <a:r>
              <a:rPr lang="en-US" sz="1100" b="1" dirty="0">
                <a:solidFill>
                  <a:srgbClr val="B91C1C"/>
                </a:solidFill>
              </a:rPr>
              <a:t>Case ✗  </a:t>
            </a:r>
            <a:r>
              <a:rPr lang="en-US" sz="1000" dirty="0">
                <a:solidFill>
                  <a:srgbClr val="1F2937"/>
                </a:solidFill>
              </a:rPr>
              <a:t>P₂ 도착 후 P₁로 </a:t>
            </a:r>
            <a:r>
              <a:rPr lang="en-US" sz="1000" b="1" dirty="0">
                <a:solidFill>
                  <a:srgbClr val="B91C1C"/>
                </a:solidFill>
              </a:rPr>
              <a:t>되돌아가는 순서</a:t>
            </a:r>
            <a:r>
              <a:rPr lang="en-US" sz="1000" dirty="0">
                <a:solidFill>
                  <a:srgbClr val="1F2937"/>
                </a:solidFill>
              </a:rPr>
              <a:t> → 클러스터 역행 탐지 + 거리 패널티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메커니즘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65A82"/>
                </a:solidFill>
              </a:rPr>
              <a:t>1.  </a:t>
            </a:r>
            <a:r>
              <a:rPr lang="en-US" sz="1100" dirty="0">
                <a:solidFill>
                  <a:srgbClr val="1F2937"/>
                </a:solidFill>
              </a:rPr>
              <a:t>전체 정점을 </a:t>
            </a:r>
            <a:r>
              <a:rPr lang="en-US" sz="1100" b="1" dirty="0">
                <a:solidFill>
                  <a:srgbClr val="111827"/>
                </a:solidFill>
              </a:rPr>
              <a:t>haversine 거리 + DBSCAN(eps = 2 km, min_samples = 2) </a:t>
            </a:r>
            <a:r>
              <a:rPr lang="en-US" sz="1100" dirty="0">
                <a:solidFill>
                  <a:srgbClr val="1F2937"/>
                </a:solidFill>
              </a:rPr>
              <a:t>로 클러스터링
</a:t>
            </a:r>
            <a:r>
              <a:rPr lang="en-US" sz="1100" b="1" dirty="0">
                <a:solidFill>
                  <a:srgbClr val="065A82"/>
                </a:solidFill>
              </a:rPr>
              <a:t>2.  </a:t>
            </a:r>
            <a:r>
              <a:rPr lang="en-US" sz="1100" dirty="0">
                <a:solidFill>
                  <a:srgbClr val="1F2937"/>
                </a:solidFill>
              </a:rPr>
              <a:t>방문 순서 따라 클러스터 라벨 시퀀스 추출 → 동일 라벨 </a:t>
            </a:r>
            <a:r>
              <a:rPr lang="en-US" sz="1100" b="1" dirty="0">
                <a:solidFill>
                  <a:srgbClr val="111827"/>
                </a:solidFill>
              </a:rPr>
              <a:t>재출현(A → B → A)</a:t>
            </a:r>
            <a:r>
              <a:rPr lang="en-US" sz="1100" dirty="0">
                <a:solidFill>
                  <a:srgbClr val="1F2937"/>
                </a:solidFill>
              </a:rPr>
              <a:t> 카운트 = M4
</a:t>
            </a:r>
            <a:r>
              <a:rPr lang="en-US" sz="1100" b="1" dirty="0">
                <a:solidFill>
                  <a:srgbClr val="065A82"/>
                </a:solidFill>
              </a:rPr>
              <a:t>3.  </a:t>
            </a:r>
            <a:r>
              <a:rPr lang="en-US" sz="1100" dirty="0">
                <a:solidFill>
                  <a:srgbClr val="1F2937"/>
                </a:solidFill>
              </a:rPr>
              <a:t>M3(시군구 재방문)와 </a:t>
            </a:r>
            <a:r>
              <a:rPr lang="en-US" sz="1100" b="1" dirty="0">
                <a:solidFill>
                  <a:srgbClr val="111827"/>
                </a:solidFill>
              </a:rPr>
              <a:t>중복 제거</a:t>
            </a:r>
            <a:r>
              <a:rPr lang="en-US" sz="1100" dirty="0">
                <a:solidFill>
                  <a:srgbClr val="1F2937"/>
                </a:solidFill>
              </a:rPr>
              <a:t>:  </a:t>
            </a: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net_M4 = max(0, M4 − M3)</a:t>
            </a:r>
            <a:r>
              <a:rPr lang="en-US" sz="1100" dirty="0">
                <a:solidFill>
                  <a:srgbClr val="1F2937"/>
                </a:solidFill>
              </a:rPr>
              <a:t> — 같은 사건 이중 카운트 방지
</a:t>
            </a:r>
            <a:r>
              <a:rPr lang="en-US" sz="1100" b="1" dirty="0">
                <a:solidFill>
                  <a:srgbClr val="065A82"/>
                </a:solidFill>
              </a:rPr>
              <a:t>4.  </a:t>
            </a:r>
            <a:r>
              <a:rPr lang="en-US" sz="1100" dirty="0">
                <a:solidFill>
                  <a:srgbClr val="1F2937"/>
                </a:solidFill>
              </a:rPr>
              <a:t>행정 단위(M3)는 "강북·강남"이 인접해도 다른 시군구로 셈 → 좌표 기반 M4가 </a:t>
            </a:r>
            <a:r>
              <a:rPr lang="en-US" sz="1100" b="1" dirty="0">
                <a:solidFill>
                  <a:srgbClr val="111827"/>
                </a:solidFill>
              </a:rPr>
              <a:t>오탐 보정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기술적 차별점 — 4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실시간 혼잡도 엔진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도시데이터 + 전국 계절성 폴백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788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실시간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서울 도시데이터 API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•  서울 116개 주요 관광지 5분 단위 인구 갱신
</a:t>
            </a:r>
            <a:r>
              <a:rPr lang="en-US" sz="1100" b="1" dirty="0">
                <a:solidFill>
                  <a:srgbClr val="1F2937"/>
                </a:solidFill>
              </a:rPr>
              <a:t>•  CONGEST_LVL  </a:t>
            </a:r>
            <a:r>
              <a:rPr lang="en-US" sz="1100" dirty="0">
                <a:solidFill>
                  <a:srgbClr val="1F2937"/>
                </a:solidFill>
              </a:rPr>
              <a:t>여유 / 보통 / 약간 붐빔 / 붐빔 4단계
•  도착 시각 기준 </a:t>
            </a:r>
            <a:r>
              <a:rPr lang="en-US" sz="1100" b="1" dirty="0">
                <a:solidFill>
                  <a:srgbClr val="1F2937"/>
                </a:solidFill>
              </a:rPr>
              <a:t>예상 혼잡도 매핑
</a:t>
            </a:r>
            <a:r>
              <a:rPr lang="en-US" sz="1100" dirty="0">
                <a:solidFill>
                  <a:srgbClr val="1F2937"/>
                </a:solidFill>
              </a:rPr>
              <a:t>•  "붐빔" + 도착 ±30분 ⟶ 패널티 −5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36576" cy="2788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폴백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전국 계절성 CSV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•  관광 통계월보(202602) 기반 시군구별 월별 가중치
•  성수기 / 비수기 / 주말 보정 계수 자동 적용
•  서울 외 지역 + Seoul API 미응답 시 자동 폴백
</a:t>
            </a:r>
            <a:r>
              <a:rPr lang="en-US" sz="1100" i="1" dirty="0">
                <a:solidFill>
                  <a:srgbClr val="1F2937"/>
                </a:solidFill>
              </a:rPr>
              <a:t>•  congestion_engine.py 가 Layer 1 → 2 라우팅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기술적 차별점 — 5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Evidence-based 설명 엔진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· 구조화 4-튜플 · JSON 강제 스키마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55448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스키마 — 4-Tuple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         </a:t>
            </a:r>
            <a:r>
              <a:rPr lang="en-US" sz="1000" dirty="0">
                <a:solidFill>
                  <a:srgbClr val="9CA3AF"/>
                </a:solidFill>
              </a:rPr>
              <a:t>관측된 사실 (시간/거리/매칭)
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        </a:t>
            </a:r>
            <a:r>
              <a:rPr lang="en-US" sz="1000" dirty="0">
                <a:solidFill>
                  <a:srgbClr val="9CA3AF"/>
                </a:solidFill>
              </a:rPr>
              <a:t>위반된 규칙 ID (time_window_inf 등)
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        </a:t>
            </a:r>
            <a:r>
              <a:rPr lang="en-US" sz="1000" dirty="0">
                <a:solidFill>
                  <a:srgbClr val="9CA3AF"/>
                </a:solidFill>
              </a:rPr>
              <a:t>CRITICAL · WARNING · INFO
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suggestion   </a:t>
            </a:r>
            <a:r>
              <a:rPr lang="en-US" sz="1000" dirty="0">
                <a:solidFill>
                  <a:srgbClr val="9CA3AF"/>
                </a:solidFill>
              </a:rPr>
              <a:t>사용자 행동 가능한 수정 제안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411480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6576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작동 메커니즘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</a:rPr>
              <a:t>1.  Validation 결과 + POI 메타 → </a:t>
            </a: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prompt(cached)
</a:t>
            </a:r>
            <a:r>
              <a:rPr lang="en-US" sz="1000" dirty="0">
                <a:solidFill>
                  <a:srgbClr val="1F2937"/>
                </a:solidFill>
              </a:rPr>
              <a:t>2.  </a:t>
            </a:r>
            <a:r>
              <a:rPr lang="en-US" sz="1000" b="1" dirty="0">
                <a:solidFill>
                  <a:srgbClr val="111827"/>
                </a:solidFill>
              </a:rPr>
              <a:t>tool_use 강제 호출</a:t>
            </a:r>
            <a:r>
              <a:rPr lang="en-US" sz="1000" dirty="0">
                <a:solidFill>
                  <a:srgbClr val="1F2937"/>
                </a:solidFill>
              </a:rPr>
              <a:t> — JSON 스키마 위반 자동 거절
3.  </a:t>
            </a:r>
            <a:r>
              <a:rPr lang="en-US" sz="1000" b="1" dirty="0">
                <a:solidFill>
                  <a:srgbClr val="111827"/>
                </a:solidFill>
              </a:rPr>
              <a:t>Repair 2-pass</a:t>
            </a:r>
            <a:r>
              <a:rPr lang="en-US" sz="1000" dirty="0">
                <a:solidFill>
                  <a:srgbClr val="1F2937"/>
                </a:solidFill>
              </a:rPr>
              <a:t> — 1차: 진단, 2차: 수정안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출력 예시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"fact": </a:t>
            </a: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"감천문화마을 도착 21:10이나 운영 종료 18:00. 입장 불가.",
</a:t>
            </a: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"rule": </a:t>
            </a: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"time_window_infeasibility",
</a:t>
            </a: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"risk": </a:t>
            </a:r>
            <a:r>
              <a:rPr lang="en-US" sz="10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"CRITICAL",
</a:t>
            </a: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"suggestion": </a:t>
            </a: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"광안리 → 감천 순서를 뒤집고 감천 14:00 도착으로 조정."
</a:t>
            </a: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환각(hallucination) 방지 — 모든 fact는 검증 엔진의 수치만 인용, 자유 텍스트 생성 금지.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RISK SCORE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Risk Score 산정 공식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시작 → 위반/패널티 차감 → Hard Fail Cap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산정 절차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4206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100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− Σ </a:t>
            </a:r>
            <a:r>
              <a:rPr lang="en-US" sz="13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VRPTW_CRITICAL × 15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− Σ </a:t>
            </a: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VRPTW_WARNING  ×  5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− </a:t>
            </a:r>
            <a:r>
              <a:rPr lang="en-US" sz="13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travel_ratio_penalty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− </a:t>
            </a:r>
            <a:r>
              <a:rPr lang="en-US" sz="13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cluster_penalty   (cap −20 / day)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− </a:t>
            </a:r>
            <a:r>
              <a:rPr lang="en-US" sz="13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theme_alignment_penalty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− </a:t>
            </a:r>
            <a:r>
              <a:rPr lang="en-US" sz="13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congestion_penalty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any CRITICAL  →  </a:t>
            </a:r>
            <a:r>
              <a:rPr lang="en-US" sz="1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min(score, 59)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1783080"/>
            <a:ext cx="35661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120640" y="1783080"/>
            <a:ext cx="36576" cy="1325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303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 컷오프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2194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   </a:t>
            </a:r>
            <a:r>
              <a:rPr lang="en-US" sz="1100" dirty="0">
                <a:solidFill>
                  <a:srgbClr val="1F2937"/>
                </a:solidFill>
              </a:rPr>
              <a:t>≥ 60   추천 가능
</a:t>
            </a: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 </a:t>
            </a:r>
            <a:r>
              <a:rPr lang="en-US" sz="1100" dirty="0">
                <a:solidFill>
                  <a:srgbClr val="1F2937"/>
                </a:solidFill>
              </a:rPr>
              <a:t>40–59  수정 필요
</a:t>
            </a: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   </a:t>
            </a:r>
            <a:r>
              <a:rPr lang="en-US" sz="1100" dirty="0">
                <a:solidFill>
                  <a:srgbClr val="1F2937"/>
                </a:solidFill>
              </a:rPr>
              <a:t>&lt; 40   재구성 권고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3200400"/>
            <a:ext cx="35661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120640" y="3200400"/>
            <a:ext cx="36576" cy="1417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0352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Fail Cap 의 의미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36118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"실행 불가능한 일정"에 60점 이상이 부여될 수 없도록 시스템적으로 봉쇄. 운영시간 충돌·Depot 위반 등 결정적 결함은 자동으로 PASS 임계 미만으로 끌어내림.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데이터 자산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검증의 토대 — 데이터 자산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 API 3종 + 자체 구축 자산 4종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50,234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TourAPI 수집 POI 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560320" y="1783080"/>
            <a:ext cx="36576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ContentTypeId 전 카테고리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36576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4632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완료 장소 (큐레이션 70 일정)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766560" y="1783080"/>
            <a:ext cx="36576" cy="1188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94944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944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큐레이션 일정 — 17 시도 모두 포함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1148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구축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4747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pois_processed.csv  </a:t>
            </a:r>
            <a:r>
              <a:rPr lang="en-US" sz="1000" dirty="0">
                <a:solidFill>
                  <a:srgbClr val="1F2937"/>
                </a:solidFill>
              </a:rPr>
              <a:t>주소(시도/시군구/읍면동) + 날짜 분리
</a:t>
            </a:r>
            <a:r>
              <a:rPr lang="en-US" sz="11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kakao_route_cache.json  </a:t>
            </a:r>
            <a:r>
              <a:rPr lang="en-US" sz="1000" dirty="0">
                <a:solidFill>
                  <a:srgbClr val="1F2937"/>
                </a:solidFill>
              </a:rPr>
              <a:t>양방향 캐시 — Mobility 호출 절감
</a:t>
            </a:r>
            <a:r>
              <a:rPr lang="en-US" sz="11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dwell_db  </a:t>
            </a:r>
            <a:r>
              <a:rPr lang="en-US" sz="1000" dirty="0">
                <a:solidFill>
                  <a:srgbClr val="1F2937"/>
                </a:solidFill>
              </a:rPr>
              <a:t>체류시간 5단계 폴백 (manual → lcls3 → lcls1 → contentType → default)
</a:t>
            </a:r>
            <a:r>
              <a:rPr lang="en-US" sz="11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itinerary_results_*.xlsx  </a:t>
            </a:r>
            <a:r>
              <a:rPr lang="en-US" sz="1000" dirty="0">
                <a:solidFill>
                  <a:srgbClr val="1F2937"/>
                </a:solidFill>
              </a:rPr>
              <a:t>27 컬럼 검증 출력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233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4632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11827"/>
                </a:solidFill>
              </a:rPr>
              <a:t>•  TourAPI v2 (KorService2)  </a:t>
            </a:r>
            <a:r>
              <a:rPr lang="en-US" sz="1000" dirty="0">
                <a:solidFill>
                  <a:srgbClr val="1F2937"/>
                </a:solidFill>
              </a:rPr>
              <a:t>POI 메타 + 카테고리 + 좌표 + 운영시간(detailIntro2)
</a:t>
            </a:r>
            <a:r>
              <a:rPr lang="en-US" sz="1100" b="1" dirty="0">
                <a:solidFill>
                  <a:srgbClr val="111827"/>
                </a:solidFill>
              </a:rPr>
              <a:t>•  Kakao Mobility  </a:t>
            </a:r>
            <a:r>
              <a:rPr lang="en-US" sz="1000" dirty="0">
                <a:solidFill>
                  <a:srgbClr val="1F2937"/>
                </a:solidFill>
              </a:rPr>
              <a:t>이동시간 행렬 (실측 도로망)
</a:t>
            </a:r>
            <a:r>
              <a:rPr lang="en-US" sz="1100" b="1" dirty="0">
                <a:solidFill>
                  <a:srgbClr val="111827"/>
                </a:solidFill>
              </a:rPr>
              <a:t>•  Kakao Local  </a:t>
            </a:r>
            <a:r>
              <a:rPr lang="en-US" sz="1000" dirty="0">
                <a:solidFill>
                  <a:srgbClr val="1F2937"/>
                </a:solidFill>
              </a:rPr>
              <a:t>POI 좌표 정규화 폴백
</a:t>
            </a:r>
            <a:r>
              <a:rPr lang="en-US" sz="1100" b="1" dirty="0">
                <a:solidFill>
                  <a:srgbClr val="111827"/>
                </a:solidFill>
              </a:rPr>
              <a:t>•  서울 도시데이터  </a:t>
            </a:r>
            <a:r>
              <a:rPr lang="en-US" sz="1000" dirty="0">
                <a:solidFill>
                  <a:srgbClr val="1F2937"/>
                </a:solidFill>
              </a:rPr>
              <a:t>주요 116개 관광지 5분 단위 실시간 인구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데이터 자산 (계속)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정성·정량 검증 외부 레퍼런스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한국관광공사 관광데이터랩 7종 + 통계월보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국민여행조사 4분기 (잠정)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039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관광공사 관광데이터랩 · 여행 횟수 · 일수 · 동선 불편 응답률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783080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17720" y="1783080"/>
            <a:ext cx="36576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국민여행조사 3분기 (잠정)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2039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관광공사 관광데이터랩 · 성수기 패턴 · 지역 분포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50008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350008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395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빅데이터와 함께하는 똑똑한 컨설팅 종합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관광공사 · 관광 빅데이터 활용 사례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2350008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17720" y="2350008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54880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395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관광자원개발 및 관광투자 동향조사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관광공사 · 권역별 자원 분포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916936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2916936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9436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2962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우수웰니스관광지 만족도 및 실태조사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관광공사 · 테마 정합성 검증 사례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2916936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617720" y="2916936"/>
            <a:ext cx="36576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75488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2962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Data&amp;Tourism 43호 — 방한 주요국 한국 여행 분석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관광컨설팅팀 · 외국인 동선 인사이트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483864"/>
            <a:ext cx="8229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57200" y="3483864"/>
            <a:ext cx="36576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40080" y="3602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" y="35478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통계월보 202602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97280" y="37398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관광공사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3602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시군구별 월 가중치 (혼잡 폴백)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자료는 한국관광공사 관광데이터랩(datalab.visitkorea.or.kr)에서 공식 제공 · 출처 표기 필수.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검증 결과 — 1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파이프라인 실행 결과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70개 큐레이션 일정 → 322 장소 → 검증 완료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recommendations_input.xlsx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</a:rPr>
              <a:t>•  17개 시도 모두 포함
•  </a:t>
            </a:r>
            <a:r>
              <a:rPr lang="en-US" sz="1100" b="1" dirty="0">
                <a:solidFill>
                  <a:srgbClr val="111827"/>
                </a:solidFill>
              </a:rPr>
              <a:t>당일치기 / 1박2일 / 2박3일 </a:t>
            </a:r>
            <a:r>
              <a:rPr lang="en-US" sz="1100" dirty="0">
                <a:solidFill>
                  <a:srgbClr val="1F2937"/>
                </a:solidFill>
              </a:rPr>
              <a:t>혼합
•  카테고리 = 관광지 · 식당 · 카페 · 시장
•  AI001 ~ AI070  연속 plan_id
•  data row 총 322개 (장소 단위)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278892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단계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21284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2217420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5232" y="2194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매칭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85232" y="2377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TourAPI 정확/부분 매칭 + 시군구 보정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59689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2601468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85232" y="25786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체류시간 추정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85232" y="27614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폴백 → 체류출처 라벨링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980944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46320" y="298551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5232" y="29626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Kakao 행렬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85232" y="31455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이동시간 양방향 캐시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364992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46320" y="3369564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85232" y="33467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VRPTW 검증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85232" y="35295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Hard/Warning 후보 생성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37490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846320" y="37536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85232" y="37307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85232" y="3913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· cluster · theme · congestion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413308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46320" y="4137660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85232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출력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85232" y="4297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컬럼 + risk_score 포함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검증 결과 — 2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 매칭 정확도 — 96.0%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 API 단일 소스로 90% 매칭 목표 초과 달성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96.0%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 / 322 장소 매칭 성공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13개 = 카페·로컬 식당 (TourAPI 미등록 자영업)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0" y="1783080"/>
            <a:ext cx="347472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949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단계 분포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240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0680" y="2468880"/>
            <a:ext cx="2880360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40680" y="265176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   ·   248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2807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3035808"/>
            <a:ext cx="47507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40680" y="321868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   ·   41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40680" y="33741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 + sigungu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3602736"/>
            <a:ext cx="23192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40680" y="378561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  ·   20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40680" y="3941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not_found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0680" y="4169664"/>
            <a:ext cx="149629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40680" y="435254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   ·   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케이스도 match_failed.csv로 별도 출력 → 이름 보정 후 재실행 가능 (운영 가능한 매칭률 보정 루프 내장).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검증 결과 — 3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일정 검증 결과 — 등급 분포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REVIEW / FAIL — risk_score 0–100 기준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011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60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67.1%   /   70 일정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가능 — Hard Fail 없음, 패널티 합 −40 이내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36576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47472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– 59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347472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25.7%   /   70 일정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필요 — travel_ratio 또는 cluster M3+M4 발생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26480" y="1783080"/>
            <a:ext cx="36576" cy="20116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0936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40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630936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   /   70 일정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재구성 권고 — 운영시간 충돌 또는 Depot 위반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패널티 발생 횟수 (70 일정 기준 · 다중 발생 허용)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Ratio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21회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6596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6596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9회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1772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1772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7회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11회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6948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위반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948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3회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검증 결과 — 4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 — 실제 검증 1행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AI004 · 부산 1박2일 — risk_score = 47 (REVIEW)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7315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1783080"/>
            <a:ext cx="4572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1783080"/>
            <a:ext cx="4572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64592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783080"/>
            <a:ext cx="173736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10312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여행지명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783080"/>
            <a:ext cx="100584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840480" y="1783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체류(분)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100584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이동(분)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52160" y="1783080"/>
            <a:ext cx="82296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52160" y="17830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783080"/>
            <a:ext cx="9144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675120" y="1783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10972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589520" y="1783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075688"/>
            <a:ext cx="7315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57200" y="20756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AI004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88720" y="2075688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88720" y="20756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0" y="2075688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645920" y="20756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03120" y="2075688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103120" y="2075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해운대해수욕장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40480" y="2075688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840480" y="2075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075688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46320" y="2075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52160" y="2075688"/>
            <a:ext cx="8229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852160" y="20756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lcls3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75120" y="2075688"/>
            <a:ext cx="9144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675120" y="2075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2075688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589520" y="2075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2368296"/>
            <a:ext cx="731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7200" y="23682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AI004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188720" y="2368296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1188720" y="23682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0" y="2368296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645920" y="23682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103120" y="2368296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2103120" y="2368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누리마루APEC하우스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40480" y="2368296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3840480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2368296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846320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52160" y="2368296"/>
            <a:ext cx="8229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852160" y="23682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lcls3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675120" y="2368296"/>
            <a:ext cx="9144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675120" y="23682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589520" y="2368296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589520" y="23682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2660904"/>
            <a:ext cx="7315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457200" y="26609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AI004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188720" y="2660904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188720" y="26609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645920" y="2660904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645920" y="26609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103120" y="2660904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2103120" y="26609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마린시티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840480" y="2660904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3840480" y="26609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46320" y="2660904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4846320" y="26609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852160" y="2660904"/>
            <a:ext cx="8229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5852160" y="26609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lcls1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675120" y="2660904"/>
            <a:ext cx="9144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6675120" y="2660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589520" y="2660904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7589520" y="26609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" y="2953512"/>
            <a:ext cx="731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457200" y="29535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AI004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188720" y="2953512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1188720" y="2953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645920" y="2953512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1645920" y="2953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103120" y="2953512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2103120" y="29535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광안리해수욕장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840480" y="2953512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3840480" y="2953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846320" y="2953512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4846320" y="2953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852160" y="2953512"/>
            <a:ext cx="8229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5852160" y="29535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lcls3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675120" y="2953512"/>
            <a:ext cx="9144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6675120" y="2953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7589520" y="2953512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7589520" y="2953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57200" y="3246120"/>
            <a:ext cx="7315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457200" y="32461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AI004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188720" y="3246120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1188720" y="3246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645920" y="3246120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1645920" y="3246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103120" y="3246120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210312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감천문화마을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840480" y="3246120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/>
          <p:nvPr/>
        </p:nvSpPr>
        <p:spPr>
          <a:xfrm>
            <a:off x="3840480" y="32461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846320" y="3246120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/>
          <p:nvPr/>
        </p:nvSpPr>
        <p:spPr>
          <a:xfrm>
            <a:off x="4846320" y="32461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852160" y="3246120"/>
            <a:ext cx="8229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5852160" y="3246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lcls3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675120" y="3246120"/>
            <a:ext cx="9144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6675120" y="3246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589520" y="3246120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1"/>
          <p:cNvSpPr/>
          <p:nvPr/>
        </p:nvSpPr>
        <p:spPr>
          <a:xfrm>
            <a:off x="7589520" y="3246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457200" y="3538728"/>
            <a:ext cx="731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/>
          <p:nvPr/>
        </p:nvSpPr>
        <p:spPr>
          <a:xfrm>
            <a:off x="457200" y="3538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AI004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1188720" y="3538728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/>
          <p:nvPr/>
        </p:nvSpPr>
        <p:spPr>
          <a:xfrm>
            <a:off x="1188720" y="35387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1645920" y="3538728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/>
          <p:nvPr/>
        </p:nvSpPr>
        <p:spPr>
          <a:xfrm>
            <a:off x="1645920" y="35387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2103120" y="3538728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/>
          <p:nvPr/>
        </p:nvSpPr>
        <p:spPr>
          <a:xfrm>
            <a:off x="2103120" y="3538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자갈치시장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3840480" y="3538728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21"/>
          <p:cNvSpPr/>
          <p:nvPr/>
        </p:nvSpPr>
        <p:spPr>
          <a:xfrm>
            <a:off x="3840480" y="3538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4846320" y="3538728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3"/>
          <p:cNvSpPr/>
          <p:nvPr/>
        </p:nvSpPr>
        <p:spPr>
          <a:xfrm>
            <a:off x="4846320" y="3538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5852160" y="3538728"/>
            <a:ext cx="8229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/>
          <p:nvPr/>
        </p:nvSpPr>
        <p:spPr>
          <a:xfrm>
            <a:off x="5852160" y="35387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675120" y="3538728"/>
            <a:ext cx="9144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7"/>
          <p:cNvSpPr/>
          <p:nvPr/>
        </p:nvSpPr>
        <p:spPr>
          <a:xfrm>
            <a:off x="6675120" y="3538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7589520" y="3538728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9"/>
          <p:cNvSpPr/>
          <p:nvPr/>
        </p:nvSpPr>
        <p:spPr>
          <a:xfrm>
            <a:off x="7589520" y="35387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457200" y="3831336"/>
            <a:ext cx="7315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1"/>
          <p:cNvSpPr/>
          <p:nvPr/>
        </p:nvSpPr>
        <p:spPr>
          <a:xfrm>
            <a:off x="457200" y="3831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AI004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1188720" y="3831336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3"/>
          <p:cNvSpPr/>
          <p:nvPr/>
        </p:nvSpPr>
        <p:spPr>
          <a:xfrm>
            <a:off x="1188720" y="38313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1645920" y="3831336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5"/>
          <p:cNvSpPr/>
          <p:nvPr/>
        </p:nvSpPr>
        <p:spPr>
          <a:xfrm>
            <a:off x="1645920" y="38313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2103120" y="3831336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137"/>
          <p:cNvSpPr/>
          <p:nvPr/>
        </p:nvSpPr>
        <p:spPr>
          <a:xfrm>
            <a:off x="2103120" y="38313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국제시장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3840480" y="3831336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Text 139"/>
          <p:cNvSpPr/>
          <p:nvPr/>
        </p:nvSpPr>
        <p:spPr>
          <a:xfrm>
            <a:off x="3840480" y="38313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4846320" y="3831336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Text 141"/>
          <p:cNvSpPr/>
          <p:nvPr/>
        </p:nvSpPr>
        <p:spPr>
          <a:xfrm>
            <a:off x="4846320" y="38313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5852160" y="3831336"/>
            <a:ext cx="8229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Text 143"/>
          <p:cNvSpPr/>
          <p:nvPr/>
        </p:nvSpPr>
        <p:spPr>
          <a:xfrm>
            <a:off x="5852160" y="38313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675120" y="3831336"/>
            <a:ext cx="9144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145"/>
          <p:cNvSpPr/>
          <p:nvPr/>
        </p:nvSpPr>
        <p:spPr>
          <a:xfrm>
            <a:off x="6675120" y="38313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7589520" y="3831336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Text 147"/>
          <p:cNvSpPr/>
          <p:nvPr/>
        </p:nvSpPr>
        <p:spPr>
          <a:xfrm>
            <a:off x="7589520" y="38313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457200" y="4123944"/>
            <a:ext cx="731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Text 149"/>
          <p:cNvSpPr/>
          <p:nvPr/>
        </p:nvSpPr>
        <p:spPr>
          <a:xfrm>
            <a:off x="457200" y="4123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AI004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1188720" y="4123944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Text 151"/>
          <p:cNvSpPr/>
          <p:nvPr/>
        </p:nvSpPr>
        <p:spPr>
          <a:xfrm>
            <a:off x="1188720" y="41239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1645920" y="4123944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5" name="Text 153"/>
          <p:cNvSpPr/>
          <p:nvPr/>
        </p:nvSpPr>
        <p:spPr>
          <a:xfrm>
            <a:off x="1645920" y="41239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2103120" y="4123944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Text 155"/>
          <p:cNvSpPr/>
          <p:nvPr/>
        </p:nvSpPr>
        <p:spPr>
          <a:xfrm>
            <a:off x="2103120" y="41239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BIFF광장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3840480" y="4123944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Text 157"/>
          <p:cNvSpPr/>
          <p:nvPr/>
        </p:nvSpPr>
        <p:spPr>
          <a:xfrm>
            <a:off x="3840480" y="41239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4846320" y="4123944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1" name="Text 159"/>
          <p:cNvSpPr/>
          <p:nvPr/>
        </p:nvSpPr>
        <p:spPr>
          <a:xfrm>
            <a:off x="4846320" y="41239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5852160" y="4123944"/>
            <a:ext cx="8229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Text 161"/>
          <p:cNvSpPr/>
          <p:nvPr/>
        </p:nvSpPr>
        <p:spPr>
          <a:xfrm>
            <a:off x="5852160" y="41239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675120" y="4123944"/>
            <a:ext cx="9144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Text 163"/>
          <p:cNvSpPr/>
          <p:nvPr/>
        </p:nvSpPr>
        <p:spPr>
          <a:xfrm>
            <a:off x="6675120" y="4123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partial+sigungu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7589520" y="4123944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Text 165"/>
          <p:cNvSpPr/>
          <p:nvPr/>
        </p:nvSpPr>
        <p:spPr>
          <a:xfrm>
            <a:off x="7589520" y="41239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167"/>
          <p:cNvSpPr/>
          <p:nvPr/>
        </p:nvSpPr>
        <p:spPr>
          <a:xfrm>
            <a:off x="457200" y="4251960"/>
            <a:ext cx="36576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0" name="Text 168"/>
          <p:cNvSpPr/>
          <p:nvPr/>
        </p:nvSpPr>
        <p:spPr>
          <a:xfrm>
            <a:off x="640080" y="4370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risk_score = 47  (REVIEW)   </a:t>
            </a: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100 − </a:t>
            </a: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VRPTW WARN×5(이동시간 마진 부족) </a:t>
            </a: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travel_ratio 16 − cluster_M3 12 </a:t>
            </a: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theme 0 </a:t>
            </a: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congestion 20</a:t>
            </a:r>
            <a:endParaRPr lang="en-US" sz="1100" dirty="0"/>
          </a:p>
        </p:txBody>
      </p:sp>
      <p:sp>
        <p:nvSpPr>
          <p:cNvPr id="171" name="Text 16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활용 시나리오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활용 시나리오 — 누가, 어떻게 쓰는가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· B2B · 공공 3대 시장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834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여행 앱의 "검증 배지"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0632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836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일정 옆에 "PASS · 87점" 배지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5204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836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일정 자동 검수로 차별화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9776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임베딩 — 1 호출 200ms 미만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291840" y="1783080"/>
            <a:ext cx="36576" cy="2834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47472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여행사 코스 운영 도구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93008" y="30632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49300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862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패키지 출시 전 자동 QA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93008" y="35204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49300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8620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Fail 케이스 사전 필터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93008" y="39776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49300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8620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27 컬럼 출력 → 운영팀 검토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126480" y="1783080"/>
            <a:ext cx="36576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30936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지자체 관광 플랫폼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27648" y="30632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32764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2084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"권역별 추천" 페이지 자동 검증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27648" y="35204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32764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2084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혼잡도 기반 분산 유도 정책 반영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27648" y="39776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32764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72084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관광데이터랩 통계와 연동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로드맵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확장 로드맵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PoC → 정식 출시까지 4 단계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" cy="5943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v0.9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8928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완성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1396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VRPTW + 4 Scoring + Claude · 70 일정 검증 · 96% 매칭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822960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36576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2606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운영시간 풀 통합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2852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TourAPI detailIntro2 usetime 50K POI 일괄 수집 → 정규식 파싱 + 신뢰도 라벨링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36576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346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33192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정식 서버 + Naver 폴백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3566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엔드포인트 5종 · Naver 검색 폴백으로 카페·식당 매칭률 99% 목표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68496"/>
            <a:ext cx="822960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3968496"/>
            <a:ext cx="36576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059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H1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60320" y="40325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확장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60320" y="42793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지하철/버스 환승 시간 통합 · 사진 메타로 체류시간 자동 추정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운영시간 데이터  →  TourAPI detailIntro2 의 usetime 필드 (예: "09:00~18:00(입장마감 17:00)")  ·  일일 10K 호출 한도, 50K POI는 약 5일 분할 수집.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한계 · 강점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정직한 한계 + 차별화된 강점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Strengths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834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현재의 한계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카페·로컬 식당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TourAPI 미등록 케이스 4% 매칭 실패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07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운영시간 일괄 적재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현재는 표본만, 50K 전수 수집은 로드맵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3741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비용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602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테마 정합성 호출당 ~$0.0003, 캐싱으로 완화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9410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외 실시간 혼잡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69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미제공 → 계절성 폴백 의존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783080"/>
            <a:ext cx="402336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차별화된 강점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2128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22128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레이어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24140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추천 서비스가 비워둔 시장 공백을 정조준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6700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2670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결합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2871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Rule(VRPTW) + Score(4종) + LLM(설명) 단일 파이프라인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1272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66360" y="31272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가능성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33284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판정이 fact·rule·suggestion 으로 추적 가능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584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3584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 데이터 우선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7856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TourAPI · Kakao · 서울 도시데이터 + 관광데이터랩 통계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4041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66360" y="4041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매칭률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4242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일정 322 장소 96% 매칭 — 운영 가능 수준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일정 QA 엔진  ·  Explainable Travel Plan Validator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77240" y="640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Acknowledgements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한국관광공사 관광데이터랩 — 2025년 국민여행조사 3·4분기 결과(잠정치)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67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1671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한국관광공사 — 2025 빅데이터와 함께하는 똑똑한 컨설팅 종합보고서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597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한국관광공사 — 2025 관광자원개발 및 관광투자 동향조사 분석 최종보고서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7523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한국관광공사 — 2025 우수웰니스관광지 만족도 및 실태조사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44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044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관광컨설팅팀 — Data&amp;Tourism 43호: 소셜 데이터 기반 방한 주요국 한국 여행 분석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3375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한국관광공사 — 관광 통계월보 (202602)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630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6301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Solomon, M.M. (1987). Algorithms for the Vehicle Routing and Scheduling Problems with Time Window Constraints. Operations Research, 35(2): 254–265.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9227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9227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TourAPI v2 (KorService2) · Kakao Mobility API · 서울특별시 실시간 도시데이터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153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42153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Sonnet 4.6 · Google OR-Tools (constraint_solver)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이건상  ·  2026.05.02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3489</Words>
  <Application>Microsoft Macintosh PowerPoint</Application>
  <PresentationFormat>화면 슬라이드 쇼(16:9)</PresentationFormat>
  <Paragraphs>669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관광 일정 QA 엔진 — Explainable Travel Plan Validator</dc:title>
  <dc:subject>PptxGenJS Presentation</dc:subject>
  <dc:creator>이건상</dc:creator>
  <cp:lastModifiedBy>이건상</cp:lastModifiedBy>
  <cp:revision>1</cp:revision>
  <dcterms:created xsi:type="dcterms:W3CDTF">2026-05-02T11:25:05Z</dcterms:created>
  <dcterms:modified xsi:type="dcterms:W3CDTF">2026-05-02T11:33:20Z</dcterms:modified>
</cp:coreProperties>
</file>